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6" r:id="rId1"/>
  </p:sldMasterIdLst>
  <p:notesMasterIdLst>
    <p:notesMasterId r:id="rId27"/>
  </p:notesMasterIdLst>
  <p:sldIdLst>
    <p:sldId id="256" r:id="rId2"/>
    <p:sldId id="287" r:id="rId3"/>
    <p:sldId id="257" r:id="rId4"/>
    <p:sldId id="290" r:id="rId5"/>
    <p:sldId id="321" r:id="rId6"/>
    <p:sldId id="309" r:id="rId7"/>
    <p:sldId id="291" r:id="rId8"/>
    <p:sldId id="326" r:id="rId9"/>
    <p:sldId id="331" r:id="rId10"/>
    <p:sldId id="292" r:id="rId11"/>
    <p:sldId id="295" r:id="rId12"/>
    <p:sldId id="335" r:id="rId13"/>
    <p:sldId id="344" r:id="rId14"/>
    <p:sldId id="346" r:id="rId15"/>
    <p:sldId id="338" r:id="rId16"/>
    <p:sldId id="339" r:id="rId17"/>
    <p:sldId id="347" r:id="rId18"/>
    <p:sldId id="342" r:id="rId19"/>
    <p:sldId id="343" r:id="rId20"/>
    <p:sldId id="345" r:id="rId21"/>
    <p:sldId id="348" r:id="rId22"/>
    <p:sldId id="319" r:id="rId23"/>
    <p:sldId id="333" r:id="rId24"/>
    <p:sldId id="323" r:id="rId25"/>
    <p:sldId id="315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остислав Гранкин" initials="РГ" lastIdx="2" clrIdx="0">
    <p:extLst>
      <p:ext uri="{19B8F6BF-5375-455C-9EA6-DF929625EA0E}">
        <p15:presenceInfo xmlns:p15="http://schemas.microsoft.com/office/powerpoint/2012/main" userId="Ростислав Гранкин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0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89651-8717-4893-A7BC-D6C1B191EF1D}" type="datetimeFigureOut">
              <a:rPr lang="ru-RU" smtClean="0"/>
              <a:pPr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D4599-F577-4D34-970B-AFF4D6069A4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96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15AF0-B38E-4900-BE6E-164D45942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3D9873-677B-4C73-89BA-CC0DD642A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8DF47B-ED3B-4F0C-BFA2-7D1207DC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D964-A20D-48BF-AC3A-F0B8588F3A52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98AB75-2EE6-4025-A095-988EF8F9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95823A-9B61-4823-A88F-4D783069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93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CF6B2-7629-4081-82C4-0B106C3EA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1FCF7B-1665-4677-90CD-D7E911E4E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E65DFE-055C-4CA3-AFCA-0377AC67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B5D4-D15C-488C-93D0-8626A238E5FB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C967F5-69F8-480D-A366-B32294DE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E11AA9-14A3-490E-B690-E3078620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55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8E9BE-2603-47F4-90EB-AF5D2C6D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51E5B5-0014-45E1-BE7F-86C4D0633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E32B8A-A3F5-4152-9BE3-5D962604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67A0-6589-4C54-8CEA-FBC86C078425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25EAB6-1733-4708-8753-9767EA5D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9CB085-51A7-4ACE-B2ED-B41BB1ED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437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AA327-DA43-4CB3-96B4-67936891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E49BC8-F3A5-4F29-8F5F-F0FB241C5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C0556D-1379-454B-8C26-D42CF5CBC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D58FF2-08F8-4519-AD2F-F51D6C49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FCD17-E5F5-458B-BE3B-36DC60D79287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F00FA8-0875-4FE9-9638-ED6A3532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8FF419-F084-47CB-A0D3-AA2EE210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37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A865FA-C423-4E2B-9A07-CB3B0BAE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15C83A-4670-43BF-B4B3-75326E7D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2E702F-00CE-4953-A0AB-73DADE824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2BF00D-B34B-419D-A631-5142D0BDE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ECBF2D-CCEB-4C09-9B5A-5BB8B7596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A87D2BB-0A1F-47D0-B4FE-C196FF29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24D-2B1D-4FF8-A1C5-6192CFBAFF28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F98288-EAB3-4890-8499-9657F768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9319D6-AF58-47C6-BB8B-ED401D3E0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312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2AEC3-8C39-4CD6-8E11-DA8BCBCA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7D4AC5-FAC1-43EA-BA66-05BB871B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AA9B1-4301-434A-B037-7F81239DF95B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89FCCEB-C99A-4D27-8C98-6DD55887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AC45C74-486B-46A6-8C4B-7C9A1663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5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B3D449-303F-449C-A593-F243B3E97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3F6B-75EF-47D5-9303-BF530744131F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79A458-2FE9-49BC-AEC1-7F4E1BFE9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090B6A-C403-49AE-B8E1-1D094F44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82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C249B-8BA3-4692-B69F-F2E745D5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E32357-E3C1-48FE-9BC0-F65AD068F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11201A-597C-421C-AEDA-000AF9168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8E44E6-B5D3-4689-A92B-28A5C942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8B0E4-663A-46D8-B871-37D6C639E251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4BDA27-D9C5-4A62-A320-01AFA14B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7AAD6F-85A9-4ED5-9122-75DF3012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00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B6CAA-2927-4636-806F-44F3BA4F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25B04A-B6EC-479D-BEE3-22A591E30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B4B76E-0B50-4D01-9104-7A56C3115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42CA7A-A312-4480-BD6A-E7BA4BF3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AAA0F-0464-4B3D-BB64-F8C1C94775D5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5ACC31-05FD-4F9F-97EA-C59E699D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741D1B-B616-4041-B553-0106E404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94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9D005-973B-4084-811A-08E8E80B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E0333F-A320-4BFC-A764-A3015C9EB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9C380E-D2BF-4B9C-8212-52D1372B8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DFB7-F2D0-4C0F-B7FC-4B92C42D4DDA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3761A7-3460-4CA3-8E4A-4D501C66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CE28A3-0216-463D-BB79-37698C6E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05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D798F0A-6596-4605-BF02-DEC737DEA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E4F224-2C36-4477-96B5-E32068100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A40F5C-AC44-473A-A1A2-01635624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7CE6-5C92-4370-87E5-401798666AA6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0DA7E0-F693-40DA-920D-D60702A5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69A2ED-8C30-43C0-84DE-D34A23A7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16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CE106-BB98-4C8F-9CCB-FDCDFD84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6C08AF-3B58-4272-9603-FF9245B70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248FFD-82CB-4E65-B2FF-3DF34E9863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C1C41-2071-4D7E-A915-30B8D912A166}" type="datetime1">
              <a:rPr lang="ru-RU" smtClean="0"/>
              <a:pPr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B88737-995F-4B5F-B6A7-A991BEB62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FDEF39-6FA7-4182-A498-1FD56C14C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C25D6-03C3-43AF-A732-F8A421240C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31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1144938" y="1195924"/>
            <a:ext cx="9968625" cy="14141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3200" b="1" dirty="0">
              <a:solidFill>
                <a:schemeClr val="tx1"/>
              </a:solidFill>
              <a:latin typeface="+mn-lt"/>
            </a:endParaRPr>
          </a:p>
          <a:p>
            <a:pPr algn="ctr"/>
            <a:endParaRPr lang="ru-RU" sz="3200" b="1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Автоматизированный учёт обслуживания компьютерной техники в образовательной организации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306988" y="3591119"/>
            <a:ext cx="20050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работы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622563" y="3591119"/>
            <a:ext cx="36827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ИВТ-21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Клименко Андрей Александрович</a:t>
            </a:r>
            <a:endParaRPr lang="ru-RU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кандидат пед. наук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Кулешова Ирина Ивановна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921" y="5711454"/>
            <a:ext cx="1796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Рубцовск      2026</a:t>
            </a:r>
          </a:p>
        </p:txBody>
      </p:sp>
    </p:spTree>
    <p:extLst>
      <p:ext uri="{BB962C8B-B14F-4D97-AF65-F5344CB8AC3E}">
        <p14:creationId xmlns:p14="http://schemas.microsoft.com/office/powerpoint/2010/main" val="350647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54EF643-B537-41DE-B0FC-799C1AA6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30" y="6492875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2</a:t>
            </a:fld>
            <a:endParaRPr lang="ru-RU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A4E048-7BF5-49AA-99EA-9E776EC6202D}"/>
              </a:ext>
            </a:extLst>
          </p:cNvPr>
          <p:cNvSpPr txBox="1"/>
          <p:nvPr/>
        </p:nvSpPr>
        <p:spPr>
          <a:xfrm>
            <a:off x="3838687" y="601134"/>
            <a:ext cx="3612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06AD6-1C4F-483F-AA6A-B2F19041E10E}"/>
              </a:ext>
            </a:extLst>
          </p:cNvPr>
          <p:cNvSpPr txBox="1"/>
          <p:nvPr/>
        </p:nvSpPr>
        <p:spPr>
          <a:xfrm>
            <a:off x="765410" y="1373357"/>
            <a:ext cx="10924841" cy="466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1000"/>
              </a:spcAft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Современная образовательная организация располагает значительным парком компьютерной техники, учёт которой требует систематизации и автоматизации.</a:t>
            </a:r>
          </a:p>
          <a:p>
            <a:pPr indent="450215" algn="just">
              <a:lnSpc>
                <a:spcPct val="150000"/>
              </a:lnSpc>
              <a:spcAft>
                <a:spcPts val="10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Ручное ведение реестра оборудования, перемещений и заявок на обслуживание приводит к ошибкам, потере данных и неэффективному использованию рабочего времени системного администратора.</a:t>
            </a:r>
            <a:endParaRPr lang="ru-RU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599" y="171450"/>
            <a:ext cx="7006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599" y="879336"/>
            <a:ext cx="11734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Разработка кроссплатформенного веб-приложения для автоматизированного учёта обслуживания компьютерной техники в образовательной организации.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263"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263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</a:t>
            </a:r>
          </a:p>
          <a:p>
            <a:pPr indent="449263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Обосновать выбор инструментальных средств</a:t>
            </a:r>
          </a:p>
          <a:p>
            <a:pPr indent="449263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структуру базы данных</a:t>
            </a:r>
          </a:p>
          <a:p>
            <a:pPr indent="449263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веб-приложение</a:t>
            </a:r>
          </a:p>
          <a:p>
            <a:pPr indent="449263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Оформить руководство пользователя и программиста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263"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Процессы учёта и обслуживания компьютерной техники в образовательной организации.</a:t>
            </a:r>
          </a:p>
          <a:p>
            <a:pPr indent="449263"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Средства автоматизации учёта компьютерной техники.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5754330" y="6492875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/>
              <a:pPr algn="ctr"/>
              <a:t>3</a:t>
            </a:fld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7249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246B7F3-685B-4DF3-907D-B5D6D3EC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30" y="6272741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4</a:t>
            </a:fld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15CD7-DFC3-4EA4-8247-100D05EB5AB6}"/>
              </a:ext>
            </a:extLst>
          </p:cNvPr>
          <p:cNvSpPr txBox="1"/>
          <p:nvPr/>
        </p:nvSpPr>
        <p:spPr>
          <a:xfrm>
            <a:off x="1134532" y="220134"/>
            <a:ext cx="9922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4FCB4-9587-4AB9-B91C-4380C240DE74}"/>
              </a:ext>
            </a:extLst>
          </p:cNvPr>
          <p:cNvSpPr txBox="1"/>
          <p:nvPr/>
        </p:nvSpPr>
        <p:spPr>
          <a:xfrm>
            <a:off x="234722" y="804909"/>
            <a:ext cx="10316047" cy="471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Операционная система: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7/10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AstraLinux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FireFox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/Chrome/Edge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Техническое обеспечение: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Процессор: x86 или x64 от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Intel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или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AMD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Оперативная память объёмом от 4 ГБ и типом памяти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DDR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 и выше;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Семейство видеокарты: NVidia или AMD;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Жесткий диск или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SSD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объёмом от 128 ГБ.</a:t>
            </a:r>
          </a:p>
        </p:txBody>
      </p:sp>
    </p:spTree>
    <p:extLst>
      <p:ext uri="{BB962C8B-B14F-4D97-AF65-F5344CB8AC3E}">
        <p14:creationId xmlns:p14="http://schemas.microsoft.com/office/powerpoint/2010/main" val="973878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2AAB7D9-11E9-4C62-9919-8CC6B9E0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27" y="6454899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5</a:t>
            </a:fld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A35CD-560A-400E-BFBD-021678C8BE65}"/>
              </a:ext>
            </a:extLst>
          </p:cNvPr>
          <p:cNvSpPr txBox="1"/>
          <p:nvPr/>
        </p:nvSpPr>
        <p:spPr>
          <a:xfrm>
            <a:off x="2269064" y="159125"/>
            <a:ext cx="7653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Инфологическая модель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C21189-B9F9-D5D7-6050-944124978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096" y="949869"/>
            <a:ext cx="9281800" cy="5299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55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246B7F3-685B-4DF3-907D-B5D6D3EC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30" y="6516312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6</a:t>
            </a:fld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15CD7-DFC3-4EA4-8247-100D05EB5AB6}"/>
              </a:ext>
            </a:extLst>
          </p:cNvPr>
          <p:cNvSpPr txBox="1"/>
          <p:nvPr/>
        </p:nvSpPr>
        <p:spPr>
          <a:xfrm>
            <a:off x="2269064" y="159125"/>
            <a:ext cx="7653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Даталогическая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F8C937-505B-27E6-36CD-55D9A14C9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304" y="918650"/>
            <a:ext cx="6799386" cy="5422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625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E733BC-CA5D-49B8-8035-862A7CBB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30" y="6019275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7</a:t>
            </a:fld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E42E1-13A1-4C29-B480-9007871FF9C5}"/>
              </a:ext>
            </a:extLst>
          </p:cNvPr>
          <p:cNvSpPr txBox="1"/>
          <p:nvPr/>
        </p:nvSpPr>
        <p:spPr>
          <a:xfrm>
            <a:off x="2170895" y="181212"/>
            <a:ext cx="7850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разрабатываемому ПО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CED78-9BA2-4066-B71A-DD20C0CC7DCF}"/>
              </a:ext>
            </a:extLst>
          </p:cNvPr>
          <p:cNvSpPr txBox="1"/>
          <p:nvPr/>
        </p:nvSpPr>
        <p:spPr>
          <a:xfrm>
            <a:off x="983560" y="800454"/>
            <a:ext cx="9192005" cy="522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Надежность и безопасность: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Высокая степень защиты персональных данных сотрудников</a:t>
            </a:r>
            <a:r>
              <a:rPr lang="en-US" sz="2000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	Наличие авторизации и аутентификации пользователя.</a:t>
            </a:r>
            <a:endParaRPr lang="ru-RU" sz="2000" kern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Удобный интерфейс и простота использования: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Интуитивно понятный интерфейс пользователя;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Отсутствие отвлекающих элементов интерфейса пользователя;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Адаптивная вёрстка форм.</a:t>
            </a:r>
          </a:p>
          <a:p>
            <a:pPr lvl="0"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Функциональность: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Надёжное хранение персональных данных сотрудников;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Формирование гражданско-правового договора, акта сдачи-приемки услуг по договору на оказание преподавательских услуг.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4894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D72E6AD-C7A3-4C36-B64A-69E0E6BF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9C832-AE58-4A8B-A099-1BA4B59F60B1}"/>
              </a:ext>
            </a:extLst>
          </p:cNvPr>
          <p:cNvSpPr txBox="1"/>
          <p:nvPr/>
        </p:nvSpPr>
        <p:spPr>
          <a:xfrm>
            <a:off x="2269064" y="159125"/>
            <a:ext cx="7653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8FC28F-2E6C-D7CB-9D51-6619B9745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553" y="1060301"/>
            <a:ext cx="6338888" cy="497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11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982D2C1-CF1E-47F2-93F3-DE15050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DEDF8-1062-4528-8B28-1829710F48F0}"/>
              </a:ext>
            </a:extLst>
          </p:cNvPr>
          <p:cNvSpPr txBox="1"/>
          <p:nvPr/>
        </p:nvSpPr>
        <p:spPr>
          <a:xfrm>
            <a:off x="2269064" y="159125"/>
            <a:ext cx="7653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B5EE62-C3C8-756B-FC4A-5E154532B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105" y="845083"/>
            <a:ext cx="6070599" cy="585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4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EE9E450-557A-4AA1-B0F3-63F30355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29" y="6103505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10</a:t>
            </a:fld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863ED-2885-4BE2-AF05-E8BF40273F27}"/>
              </a:ext>
            </a:extLst>
          </p:cNvPr>
          <p:cNvSpPr txBox="1"/>
          <p:nvPr/>
        </p:nvSpPr>
        <p:spPr>
          <a:xfrm>
            <a:off x="2391134" y="238299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авторизации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EC9F06-14B4-17EF-32DE-3E5909E0C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990" y="1320800"/>
            <a:ext cx="510802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3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EE9E450-557A-4AA1-B0F3-63F30355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27" y="6463771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11</a:t>
            </a:fld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863ED-2885-4BE2-AF05-E8BF40273F27}"/>
              </a:ext>
            </a:extLst>
          </p:cNvPr>
          <p:cNvSpPr txBox="1"/>
          <p:nvPr/>
        </p:nvSpPr>
        <p:spPr>
          <a:xfrm>
            <a:off x="2497661" y="29104"/>
            <a:ext cx="71966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(основная страница)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лица пользователя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CF71F3-6AEA-AC28-A65D-2B34284A7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46" y="1217085"/>
            <a:ext cx="11201896" cy="542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5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E33E4B-B970-C7E4-CE2D-57425780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C587C-9082-AD92-04B6-7CB0A2ACE810}"/>
              </a:ext>
            </a:extLst>
          </p:cNvPr>
          <p:cNvSpPr txBox="1"/>
          <p:nvPr/>
        </p:nvSpPr>
        <p:spPr>
          <a:xfrm>
            <a:off x="2497661" y="29104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тикета в поддержку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25EACB-2543-75DC-76E8-AFB7E826F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06" y="723900"/>
            <a:ext cx="11684788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95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FA35D6-AAA4-21F3-54DA-B600E5E7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4F81D-B15D-C554-425D-34485D9BD7AE}"/>
              </a:ext>
            </a:extLst>
          </p:cNvPr>
          <p:cNvSpPr txBox="1"/>
          <p:nvPr/>
        </p:nvSpPr>
        <p:spPr>
          <a:xfrm>
            <a:off x="2497661" y="29104"/>
            <a:ext cx="71966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лица администратора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02B8DD-264B-9E17-1875-F14FA40BF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4" y="1519749"/>
            <a:ext cx="8991600" cy="442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74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FA35D6-AAA4-21F3-54DA-B600E5E7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4F81D-B15D-C554-425D-34485D9BD7AE}"/>
              </a:ext>
            </a:extLst>
          </p:cNvPr>
          <p:cNvSpPr txBox="1"/>
          <p:nvPr/>
        </p:nvSpPr>
        <p:spPr>
          <a:xfrm>
            <a:off x="2497661" y="29104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 на заявку (тикет)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A1077E-3458-D0B1-3F6C-B414A0E1B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93" y="771911"/>
            <a:ext cx="6327202" cy="542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8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E33E4B-B970-C7E4-CE2D-57425780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C587C-9082-AD92-04B6-7CB0A2ACE810}"/>
              </a:ext>
            </a:extLst>
          </p:cNvPr>
          <p:cNvSpPr txBox="1"/>
          <p:nvPr/>
        </p:nvSpPr>
        <p:spPr>
          <a:xfrm>
            <a:off x="2497661" y="29104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устройствами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45DC5E-F295-C5DD-C754-2F04171F7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9"/>
          <a:stretch/>
        </p:blipFill>
        <p:spPr>
          <a:xfrm>
            <a:off x="676274" y="1247774"/>
            <a:ext cx="10839452" cy="491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57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E33E4B-B970-C7E4-CE2D-57425780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C587C-9082-AD92-04B6-7CB0A2ACE810}"/>
              </a:ext>
            </a:extLst>
          </p:cNvPr>
          <p:cNvSpPr txBox="1"/>
          <p:nvPr/>
        </p:nvSpPr>
        <p:spPr>
          <a:xfrm>
            <a:off x="2497661" y="29104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выбранного устройства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FD270F-4B44-BD9A-967B-38D92EE8B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624" y="747229"/>
            <a:ext cx="6324740" cy="588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07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A866A07-B6C5-6485-3746-FB8A9797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B2398-BF76-BCE0-47AC-04DDE987BCD2}"/>
              </a:ext>
            </a:extLst>
          </p:cNvPr>
          <p:cNvSpPr txBox="1"/>
          <p:nvPr/>
        </p:nvSpPr>
        <p:spPr>
          <a:xfrm>
            <a:off x="1395663" y="29104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перемещений и заявок устройства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A3EDE4-A51C-CD3F-F2B0-31EB99AE6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70" y="613879"/>
            <a:ext cx="9613986" cy="57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19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E33E4B-B970-C7E4-CE2D-57425780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C587C-9082-AD92-04B6-7CB0A2ACE810}"/>
              </a:ext>
            </a:extLst>
          </p:cNvPr>
          <p:cNvSpPr txBox="1"/>
          <p:nvPr/>
        </p:nvSpPr>
        <p:spPr>
          <a:xfrm>
            <a:off x="2497661" y="29104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устройства МОЛ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762124-52E1-1542-A8EC-BC8EE1B29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79" y="794535"/>
            <a:ext cx="5944430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E33E4B-B970-C7E4-CE2D-57425780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C587C-9082-AD92-04B6-7CB0A2ACE810}"/>
              </a:ext>
            </a:extLst>
          </p:cNvPr>
          <p:cNvSpPr txBox="1"/>
          <p:nvPr/>
        </p:nvSpPr>
        <p:spPr>
          <a:xfrm>
            <a:off x="2497661" y="29104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Смена статуса устройства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29A334-B657-ED43-5AE5-4C61D7983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023" y="926097"/>
            <a:ext cx="5371942" cy="543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90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E33E4B-B970-C7E4-CE2D-57425780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C587C-9082-AD92-04B6-7CB0A2ACE810}"/>
              </a:ext>
            </a:extLst>
          </p:cNvPr>
          <p:cNvSpPr txBox="1"/>
          <p:nvPr/>
        </p:nvSpPr>
        <p:spPr>
          <a:xfrm>
            <a:off x="2497661" y="29104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нового устройства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5FFACA-E811-874C-13F4-B3886FDF4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731" y="794084"/>
            <a:ext cx="5608525" cy="52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91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D54DF20-4360-61EC-0A67-A56FAB25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25D6-03C3-43AF-A732-F8A421240C88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ADFB40-A990-748D-80CF-AFFFCF31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3" y="745354"/>
            <a:ext cx="11157734" cy="54771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CE24B1-B3AD-D1F2-2456-DC76E595225D}"/>
              </a:ext>
            </a:extLst>
          </p:cNvPr>
          <p:cNvSpPr txBox="1"/>
          <p:nvPr/>
        </p:nvSpPr>
        <p:spPr>
          <a:xfrm>
            <a:off x="1363580" y="26700"/>
            <a:ext cx="9673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данных через Админ-панель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80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229060-38E9-4F7D-8817-2D85F06C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28" y="6492875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22</a:t>
            </a:fld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E042E-1E39-4283-BFC5-B629AA6922CC}"/>
              </a:ext>
            </a:extLst>
          </p:cNvPr>
          <p:cNvSpPr txBox="1"/>
          <p:nvPr/>
        </p:nvSpPr>
        <p:spPr>
          <a:xfrm>
            <a:off x="2497665" y="167426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Выходная информация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6601D5-7FBF-0EDE-2D9C-92C387E22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667" y="895255"/>
            <a:ext cx="4749368" cy="55532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F3CA2B-2645-BC73-8A43-442401709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84" y="895255"/>
            <a:ext cx="4972744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61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229060-38E9-4F7D-8817-2D85F06C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28" y="6492875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23</a:t>
            </a:fld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E042E-1E39-4283-BFC5-B629AA6922CC}"/>
              </a:ext>
            </a:extLst>
          </p:cNvPr>
          <p:cNvSpPr txBox="1"/>
          <p:nvPr/>
        </p:nvSpPr>
        <p:spPr>
          <a:xfrm>
            <a:off x="2497665" y="167426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Выходная информация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0BB7EA-FDDE-05E7-9797-9A7816C64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912" y="685968"/>
            <a:ext cx="4031738" cy="61036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31BE82-7071-83CA-B0C8-4C5E7AE04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777" y="765919"/>
            <a:ext cx="4597598" cy="594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76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881422-85F6-4444-A656-59C0D636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30" y="6492875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24</a:t>
            </a:fld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E5FBE-9027-4CAB-A2D5-2471EC031C7D}"/>
              </a:ext>
            </a:extLst>
          </p:cNvPr>
          <p:cNvSpPr txBox="1"/>
          <p:nvPr/>
        </p:nvSpPr>
        <p:spPr>
          <a:xfrm>
            <a:off x="2269064" y="159125"/>
            <a:ext cx="7653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Входная информация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3C711-C901-0F1B-6997-C70DE65EC2CA}"/>
              </a:ext>
            </a:extLst>
          </p:cNvPr>
          <p:cNvSpPr txBox="1"/>
          <p:nvPr/>
        </p:nvSpPr>
        <p:spPr>
          <a:xfrm>
            <a:off x="337350" y="1012790"/>
            <a:ext cx="10833960" cy="4334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Основу входных данных составляют:</a:t>
            </a:r>
            <a:endParaRPr lang="ru-RU" sz="2400" dirty="0">
              <a:solidFill>
                <a:srgbClr val="00000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характеристики оборудования (инвентарные номера, технические спецификации, балансовая стоимость, гарантийные сроки);</a:t>
            </a:r>
            <a:endParaRPr lang="ru-RU" sz="2400" dirty="0">
              <a:solidFill>
                <a:srgbClr val="00000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сведения о материально ответственных лицах, должностях и структурных подразделениях;</a:t>
            </a:r>
            <a:endParaRPr lang="ru-RU" sz="2400" dirty="0">
              <a:solidFill>
                <a:srgbClr val="00000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параметры перемещений техники, статусы объектов и заявки на техническое обслуживание;</a:t>
            </a:r>
            <a:endParaRPr lang="ru-RU" sz="2400" dirty="0">
              <a:solidFill>
                <a:srgbClr val="00000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сетевые и программные конфигурации (IP/MAC-адреса, версии ПО, параметры подключения).</a:t>
            </a:r>
            <a:endParaRPr lang="ru-RU" sz="2400" dirty="0">
              <a:solidFill>
                <a:srgbClr val="00000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4526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EE9E450-557A-4AA1-B0F3-63F30355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29" y="6492875"/>
            <a:ext cx="683339" cy="365125"/>
          </a:xfrm>
        </p:spPr>
        <p:txBody>
          <a:bodyPr/>
          <a:lstStyle/>
          <a:p>
            <a:pPr algn="ctr"/>
            <a:fld id="{53AC25D6-03C3-43AF-A732-F8A421240C88}" type="slidenum">
              <a:rPr lang="ru-RU" sz="1400" smtClean="0"/>
              <a:pPr algn="ctr"/>
              <a:t>25</a:t>
            </a:fld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863ED-2885-4BE2-AF05-E8BF40273F27}"/>
              </a:ext>
            </a:extLst>
          </p:cNvPr>
          <p:cNvSpPr txBox="1"/>
          <p:nvPr/>
        </p:nvSpPr>
        <p:spPr>
          <a:xfrm>
            <a:off x="2497666" y="167278"/>
            <a:ext cx="7196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8D1D5-C886-4AFD-AD62-0DAC561387D4}"/>
              </a:ext>
            </a:extLst>
          </p:cNvPr>
          <p:cNvSpPr txBox="1"/>
          <p:nvPr/>
        </p:nvSpPr>
        <p:spPr>
          <a:xfrm>
            <a:off x="1078884" y="1414571"/>
            <a:ext cx="530915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005E880-6658-44B0-B392-3131A80F3590}"/>
              </a:ext>
            </a:extLst>
          </p:cNvPr>
          <p:cNvSpPr txBox="1">
            <a:spLocks/>
          </p:cNvSpPr>
          <p:nvPr/>
        </p:nvSpPr>
        <p:spPr>
          <a:xfrm>
            <a:off x="241300" y="879675"/>
            <a:ext cx="11823700" cy="5613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807BB-75F4-C83A-730B-B28E92F1847A}"/>
              </a:ext>
            </a:extLst>
          </p:cNvPr>
          <p:cNvSpPr txBox="1"/>
          <p:nvPr/>
        </p:nvSpPr>
        <p:spPr>
          <a:xfrm>
            <a:off x="581025" y="879674"/>
            <a:ext cx="11369675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достигнута: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Разработано кроссплатформенное веб-приложение для автоматизированного учёта обслуживания компьютерной техники в образовательной организации.</a:t>
            </a:r>
          </a:p>
          <a:p>
            <a:pPr indent="447675" algn="just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Выполненные задачи:</a:t>
            </a:r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предметной области и нормативной документации;</a:t>
            </a: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 выбор инструментальных средств (</a:t>
            </a:r>
            <a:r>
              <a:rPr lang="ru-RU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структура базы данных с учётом гибкого хранения характеристик (JSONB);</a:t>
            </a: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веб-приложение с разграничением прав доступа;</a:t>
            </a: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Оформлены руководства пользователя и программиста.</a:t>
            </a:r>
          </a:p>
          <a:p>
            <a:pPr indent="447675" algn="just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значимость:</a:t>
            </a:r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времени на ведение реестра оборудования и формирование отчётности;</a:t>
            </a: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количества ошибок при заполнении учётных документов;</a:t>
            </a: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перемещений техники и гарантийных сроков;</a:t>
            </a:r>
          </a:p>
          <a:p>
            <a:pPr indent="447675" algn="just">
              <a:buFont typeface="Arial" panose="020B0604020202020204" pitchFamily="34" charset="0"/>
              <a:buChar char="•"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работы в гетерогенной ИТ-среде (Windows, Astra Linux, РЕД ОС).</a:t>
            </a:r>
          </a:p>
        </p:txBody>
      </p:sp>
    </p:spTree>
    <p:extLst>
      <p:ext uri="{BB962C8B-B14F-4D97-AF65-F5344CB8AC3E}">
        <p14:creationId xmlns:p14="http://schemas.microsoft.com/office/powerpoint/2010/main" val="36260938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3432</TotalTime>
  <Words>526</Words>
  <Application>Microsoft Office PowerPoint</Application>
  <PresentationFormat>Широкоэкранный</PresentationFormat>
  <Paragraphs>115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Алтайский государственный технический университет им И.И. Ползунова</dc:title>
  <dc:creator>Ростислав Гранкин</dc:creator>
  <cp:lastModifiedBy>Sergey Malahov</cp:lastModifiedBy>
  <cp:revision>150</cp:revision>
  <dcterms:created xsi:type="dcterms:W3CDTF">2022-05-12T14:23:35Z</dcterms:created>
  <dcterms:modified xsi:type="dcterms:W3CDTF">2026-06-23T12:23:28Z</dcterms:modified>
</cp:coreProperties>
</file>
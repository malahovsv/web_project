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96" r:id="rId1"/>
  </p:sldMasterIdLst>
  <p:notesMasterIdLst>
    <p:notesMasterId r:id="rId27"/>
  </p:notesMasterIdLst>
  <p:sldIdLst>
    <p:sldId id="256" r:id="rId2"/>
    <p:sldId id="287" r:id="rId3"/>
    <p:sldId id="257" r:id="rId4"/>
    <p:sldId id="290" r:id="rId5"/>
    <p:sldId id="321" r:id="rId6"/>
    <p:sldId id="309" r:id="rId7"/>
    <p:sldId id="291" r:id="rId8"/>
    <p:sldId id="326" r:id="rId9"/>
    <p:sldId id="331" r:id="rId10"/>
    <p:sldId id="292" r:id="rId11"/>
    <p:sldId id="295" r:id="rId12"/>
    <p:sldId id="335" r:id="rId13"/>
    <p:sldId id="344" r:id="rId14"/>
    <p:sldId id="346" r:id="rId15"/>
    <p:sldId id="338" r:id="rId16"/>
    <p:sldId id="339" r:id="rId17"/>
    <p:sldId id="347" r:id="rId18"/>
    <p:sldId id="342" r:id="rId19"/>
    <p:sldId id="343" r:id="rId20"/>
    <p:sldId id="345" r:id="rId21"/>
    <p:sldId id="348" r:id="rId22"/>
    <p:sldId id="319" r:id="rId23"/>
    <p:sldId id="333" r:id="rId24"/>
    <p:sldId id="323" r:id="rId25"/>
    <p:sldId id="315" r:id="rId2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Ростислав Гранкин" initials="РГ" lastIdx="2" clrIdx="0">
    <p:extLst>
      <p:ext uri="{19B8F6BF-5375-455C-9EA6-DF929625EA0E}">
        <p15:presenceInfo xmlns:p15="http://schemas.microsoft.com/office/powerpoint/2012/main" userId="Ростислав Гранкин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0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889651-8717-4893-A7BC-D6C1B191EF1D}" type="datetimeFigureOut">
              <a:rPr lang="ru-RU" smtClean="0"/>
              <a:pPr/>
              <a:t>13.06.2026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6D4599-F577-4D34-970B-AFF4D6069A4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79659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015AF0-B38E-4900-BE6E-164D45942F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73D9873-677B-4C73-89BA-CC0DD642AD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28DF47B-ED3B-4F0C-BFA2-7D1207DC5B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6D964-A20D-48BF-AC3A-F0B8588F3A52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E98AB75-2EE6-4025-A095-988EF8F91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D95823A-9B61-4823-A88F-4D7830694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7935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6CF6B2-7629-4081-82C4-0B106C3EA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61FCF7B-1665-4677-90CD-D7E911E4E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BE65DFE-055C-4CA3-AFCA-0377AC670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C1B5D4-D15C-488C-93D0-8626A238E5FB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2C967F5-69F8-480D-A366-B32294DE3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7E11AA9-14A3-490E-B690-E30786208A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9557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D8E9BE-2603-47F4-90EB-AF5D2C6D0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751E5B5-0014-45E1-BE7F-86C4D0633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6E32B8A-A3F5-4152-9BE3-5D962604E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8767A0-6589-4C54-8CEA-FBC86C078425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125EAB6-1733-4708-8753-9767EA5DB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39CB085-51A7-4ACE-B2ED-B41BB1ED2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7437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4AA327-DA43-4CB3-96B4-679368912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8E49BC8-F3A5-4F29-8F5F-F0FB241C5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6C0556D-1379-454B-8C26-D42CF5CBC0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2D58FF2-08F8-4519-AD2F-F51D6C4937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5FCD17-E5F5-458B-BE3B-36DC60D79287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1F00FA8-0875-4FE9-9638-ED6A35326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B8FF419-F084-47CB-A0D3-AA2EE210D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1374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A865FA-C423-4E2B-9A07-CB3B0BAEB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415C83A-4670-43BF-B4B3-75326E7D8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12E702F-00CE-4953-A0AB-73DADE824F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492BF00D-B34B-419D-A631-5142D0BDE5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3ECBF2D-CCEB-4C09-9B5A-5BB8B75967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2A87D2BB-0A1F-47D0-B4FE-C196FF29F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B3624D-2B1D-4FF8-A1C5-6192CFBAFF28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BF98288-EAB3-4890-8499-9657F76820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E9319D6-AF58-47C6-BB8B-ED401D3E0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80312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62AEC3-8C39-4CD6-8E11-DA8BCBCA1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667D4AC5-FAC1-43EA-BA66-05BB871BA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FAA9B1-4301-434A-B037-7F81239DF95B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89FCCEB-C99A-4D27-8C98-6DD558878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AC45C74-486B-46A6-8C4B-7C9A1663F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4535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4B3D449-303F-449C-A593-F243B3E97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513F6B-75EF-47D5-9303-BF530744131F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779A458-2FE9-49BC-AEC1-7F4E1BFE9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4090B6A-C403-49AE-B8E1-1D094F445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7829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9C249B-8BA3-4692-B69F-F2E745D550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4E32357-E3C1-48FE-9BC0-F65AD068F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A11201A-597C-421C-AEDA-000AF91689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18E44E6-B5D3-4689-A92B-28A5C9422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B8B0E4-663A-46D8-B871-37D6C639E251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64BDA27-D9C5-4A62-A320-01AFA14B0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17AAD6F-85A9-4ED5-9122-75DF30121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008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4B6CAA-2927-4636-806F-44F3BA4F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025B04A-B6EC-479D-BEE3-22A591E30D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0B4B76E-0B50-4D01-9104-7A56C3115C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C42CA7A-A312-4480-BD6A-E7BA4BF33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FAAA0F-0464-4B3D-BB64-F8C1C94775D5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25ACC31-05FD-4F9F-97EA-C59E699D5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B2741D1B-B616-4041-B553-0106E4046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49428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99D005-973B-4084-811A-08E8E80BA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6E0333F-A320-4BFC-A764-A3015C9EB9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9C380E-D2BF-4B9C-8212-52D1372B8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A5DFB7-F2D0-4C0F-B7FC-4B92C42D4DDA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3761A7-3460-4CA3-8E4A-4D501C66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CE28A3-0216-463D-BB79-37698C6E89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00528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D798F0A-6596-4605-BF02-DEC737DEAF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26E4F224-2C36-4477-96B5-E320681007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A40F5C-AC44-473A-A1A2-016356248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157CE6-5C92-4370-87E5-401798666AA6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70DA7E0-F693-40DA-920D-D60702A5F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A69A2ED-8C30-43C0-84DE-D34A23A77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11680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BCE106-BB98-4C8F-9CCB-FDCDFD84E1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06C08AF-3B58-4272-9603-FF9245B70C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7248FFD-82CB-4E65-B2FF-3DF34E9863F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4C1C41-2071-4D7E-A915-30B8D912A166}" type="datetime1">
              <a:rPr lang="ru-RU" smtClean="0"/>
              <a:pPr/>
              <a:t>13.06.2026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2B88737-995F-4B5F-B6A7-A991BEB62A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EFDEF39-6FA7-4182-A498-1FD56C14CD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AC25D6-03C3-43AF-A732-F8A421240C8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9313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7" r:id="rId1"/>
    <p:sldLayoutId id="2147483798" r:id="rId2"/>
    <p:sldLayoutId id="2147483799" r:id="rId3"/>
    <p:sldLayoutId id="2147483800" r:id="rId4"/>
    <p:sldLayoutId id="2147483801" r:id="rId5"/>
    <p:sldLayoutId id="2147483802" r:id="rId6"/>
    <p:sldLayoutId id="2147483803" r:id="rId7"/>
    <p:sldLayoutId id="2147483804" r:id="rId8"/>
    <p:sldLayoutId id="2147483805" r:id="rId9"/>
    <p:sldLayoutId id="2147483806" r:id="rId10"/>
    <p:sldLayoutId id="2147483807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1144938" y="1195924"/>
            <a:ext cx="9968625" cy="141411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8000" kern="1200" spc="-50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endParaRPr lang="ru-RU" sz="3200" b="1" dirty="0">
              <a:solidFill>
                <a:schemeClr val="tx1"/>
              </a:solidFill>
              <a:latin typeface="+mn-lt"/>
            </a:endParaRPr>
          </a:p>
          <a:p>
            <a:pPr algn="ctr"/>
            <a:endParaRPr lang="ru-RU" sz="3200" b="1" dirty="0">
              <a:solidFill>
                <a:schemeClr val="tx1"/>
              </a:solidFill>
              <a:latin typeface="+mn-lt"/>
            </a:endParaRPr>
          </a:p>
          <a:p>
            <a:pPr algn="ctr"/>
            <a:r>
              <a:rPr lang="ru-RU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Автоматизированный учёт обслуживания компьютерной техники в образовательной организации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2306988" y="3591119"/>
            <a:ext cx="200509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7622563" y="3591119"/>
            <a:ext cx="368274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ст. гр. ИВТ-21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Клименко Андрей Александрович</a:t>
            </a:r>
            <a:endParaRPr lang="ru-RU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Доцент, кандидат пед. наук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Кулешова Ирина Ивановна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30921" y="5711454"/>
            <a:ext cx="17966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Рубцовск      2026</a:t>
            </a:r>
          </a:p>
        </p:txBody>
      </p:sp>
    </p:spTree>
    <p:extLst>
      <p:ext uri="{BB962C8B-B14F-4D97-AF65-F5344CB8AC3E}">
        <p14:creationId xmlns:p14="http://schemas.microsoft.com/office/powerpoint/2010/main" val="35064707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54EF643-B537-41DE-B0FC-799C1AA65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4330" y="6492875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 smtClean="0"/>
              <a:pPr algn="ctr"/>
              <a:t>2</a:t>
            </a:fld>
            <a:endParaRPr lang="ru-RU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A4E048-7BF5-49AA-99EA-9E776EC6202D}"/>
              </a:ext>
            </a:extLst>
          </p:cNvPr>
          <p:cNvSpPr txBox="1"/>
          <p:nvPr/>
        </p:nvSpPr>
        <p:spPr>
          <a:xfrm>
            <a:off x="3838687" y="601134"/>
            <a:ext cx="361272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темы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206AD6-1C4F-483F-AA6A-B2F19041E10E}"/>
              </a:ext>
            </a:extLst>
          </p:cNvPr>
          <p:cNvSpPr txBox="1"/>
          <p:nvPr/>
        </p:nvSpPr>
        <p:spPr>
          <a:xfrm>
            <a:off x="765410" y="1373357"/>
            <a:ext cx="10924841" cy="4667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0215" algn="just">
              <a:lnSpc>
                <a:spcPct val="150000"/>
              </a:lnSpc>
              <a:spcAft>
                <a:spcPts val="1000"/>
              </a:spcAft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Современная образовательная организация располагает значительным парком компьютерной техники, учёт которой требует систематизации и автоматизации.</a:t>
            </a:r>
          </a:p>
          <a:p>
            <a:pPr indent="450215" algn="just">
              <a:lnSpc>
                <a:spcPct val="150000"/>
              </a:lnSpc>
              <a:spcAft>
                <a:spcPts val="1000"/>
              </a:spcAft>
            </a:pP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Ручное ведение реестра оборудования, перемещений и заявок на обслуживание приводит к ошибкам, потере данных и неэффективному использованию рабочего времени системного администратора.</a:t>
            </a:r>
            <a:endParaRPr lang="ru-RU" sz="2800" b="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58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599" y="171450"/>
            <a:ext cx="70067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и задачи: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28599" y="879336"/>
            <a:ext cx="11734800" cy="6124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49263"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Разработка кроссплатформенного веб-приложения для автоматизированного учёта обслуживания компьютерной техники в образовательной организации.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49263"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Задачи: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49263" algn="just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анализ предметной области</a:t>
            </a:r>
          </a:p>
          <a:p>
            <a:pPr indent="449263" algn="just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Обосновать выбор инструментальных средств</a:t>
            </a:r>
          </a:p>
          <a:p>
            <a:pPr indent="449263" algn="just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структуру базы данных</a:t>
            </a:r>
          </a:p>
          <a:p>
            <a:pPr indent="449263" algn="just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веб-приложение</a:t>
            </a:r>
          </a:p>
          <a:p>
            <a:pPr indent="449263" algn="just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Оформить руководство пользователя и программиста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49263"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 исследования: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Процессы учёта и обслуживания компьютерной техники в образовательной организации.</a:t>
            </a:r>
          </a:p>
          <a:p>
            <a:pPr indent="449263"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 исследования: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Средства автоматизации учёта компьютерной техники.</a:t>
            </a:r>
          </a:p>
          <a:p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5754330" y="6492875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/>
              <a:pPr algn="ctr"/>
              <a:t>3</a:t>
            </a:fld>
            <a:endParaRPr lang="ru-RU" sz="1400" dirty="0"/>
          </a:p>
        </p:txBody>
      </p:sp>
    </p:spTree>
    <p:extLst>
      <p:ext uri="{BB962C8B-B14F-4D97-AF65-F5344CB8AC3E}">
        <p14:creationId xmlns:p14="http://schemas.microsoft.com/office/powerpoint/2010/main" val="8724930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6246B7F3-685B-4DF3-907D-B5D6D3ECD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4330" y="6272741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 smtClean="0"/>
              <a:pPr algn="ctr"/>
              <a:t>4</a:t>
            </a:fld>
            <a:endParaRPr lang="ru-RU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115CD7-DFC3-4EA4-8247-100D05EB5AB6}"/>
              </a:ext>
            </a:extLst>
          </p:cNvPr>
          <p:cNvSpPr txBox="1"/>
          <p:nvPr/>
        </p:nvSpPr>
        <p:spPr>
          <a:xfrm>
            <a:off x="1134532" y="220134"/>
            <a:ext cx="99229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Системные требования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D4FCB4-9587-4AB9-B91C-4380C240DE74}"/>
              </a:ext>
            </a:extLst>
          </p:cNvPr>
          <p:cNvSpPr txBox="1"/>
          <p:nvPr/>
        </p:nvSpPr>
        <p:spPr>
          <a:xfrm>
            <a:off x="234722" y="804909"/>
            <a:ext cx="10316047" cy="47192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Программное обеспечение: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Операционная система: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7/10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AstraLinux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RedOS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Браузер: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FireFox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/Chrome/Edge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49580" algn="just">
              <a:lnSpc>
                <a:spcPct val="150000"/>
              </a:lnSpc>
              <a:spcAft>
                <a:spcPts val="800"/>
              </a:spcAft>
            </a:pPr>
            <a:r>
              <a:rPr lang="ru-RU" sz="2800" b="1" dirty="0">
                <a:latin typeface="Times New Roman" panose="02020603050405020304" pitchFamily="18" charset="0"/>
                <a:ea typeface="Calibri" panose="020F0502020204030204" pitchFamily="34" charset="0"/>
              </a:rPr>
              <a:t>Техническое обеспечение:</a:t>
            </a:r>
            <a:endParaRPr lang="ru-RU" sz="2800" b="1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lvl="0" indent="-342900" algn="just">
              <a:buFont typeface="Symbol" panose="05050102010706020507" pitchFamily="18" charset="2"/>
              <a:buChar char=""/>
            </a:pP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Процессор: x86 или x64 от </a:t>
            </a:r>
            <a:r>
              <a:rPr lang="en-US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Intel </a:t>
            </a: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или </a:t>
            </a:r>
            <a:r>
              <a:rPr lang="en-US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AMD</a:t>
            </a: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;</a:t>
            </a:r>
          </a:p>
          <a:p>
            <a:pPr marL="342900" lvl="0" indent="-342900" algn="just">
              <a:buFont typeface="Symbol" panose="05050102010706020507" pitchFamily="18" charset="2"/>
              <a:buChar char=""/>
            </a:pP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Оперативная память объёмом от 4 ГБ и типом памяти </a:t>
            </a:r>
            <a:r>
              <a:rPr lang="en-US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DDR</a:t>
            </a: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3 и выше;</a:t>
            </a:r>
          </a:p>
          <a:p>
            <a:pPr marL="342900" lvl="0" indent="-342900" algn="just">
              <a:buFont typeface="Symbol" panose="05050102010706020507" pitchFamily="18" charset="2"/>
              <a:buChar char=""/>
            </a:pPr>
            <a:r>
              <a:rPr lang="ru-RU" sz="2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Семейство видеокарты: NVidia или AMD;</a:t>
            </a:r>
            <a:endParaRPr lang="ru-RU" sz="28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342900" lvl="0" indent="-342900" algn="just"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Жесткий диск или </a:t>
            </a:r>
            <a:r>
              <a:rPr lang="en-US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SSD </a:t>
            </a:r>
            <a:r>
              <a:rPr lang="ru-RU" sz="2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объёмом от 128 ГБ.</a:t>
            </a:r>
          </a:p>
        </p:txBody>
      </p:sp>
    </p:spTree>
    <p:extLst>
      <p:ext uri="{BB962C8B-B14F-4D97-AF65-F5344CB8AC3E}">
        <p14:creationId xmlns:p14="http://schemas.microsoft.com/office/powerpoint/2010/main" val="973878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2AAB7D9-11E9-4C62-9919-8CC6B9E0A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4327" y="6454899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 smtClean="0"/>
              <a:pPr algn="ctr"/>
              <a:t>5</a:t>
            </a:fld>
            <a:endParaRPr lang="ru-RU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FA35CD-560A-400E-BFBD-021678C8BE65}"/>
              </a:ext>
            </a:extLst>
          </p:cNvPr>
          <p:cNvSpPr txBox="1"/>
          <p:nvPr/>
        </p:nvSpPr>
        <p:spPr>
          <a:xfrm>
            <a:off x="2269064" y="159125"/>
            <a:ext cx="76538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Инфологическая модель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AC21189-B9F9-D5D7-6050-9441249784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5096" y="949869"/>
            <a:ext cx="9281800" cy="5299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44557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6246B7F3-685B-4DF3-907D-B5D6D3ECD3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4330" y="6516312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 smtClean="0"/>
              <a:pPr algn="ctr"/>
              <a:t>6</a:t>
            </a:fld>
            <a:endParaRPr lang="ru-RU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115CD7-DFC3-4EA4-8247-100D05EB5AB6}"/>
              </a:ext>
            </a:extLst>
          </p:cNvPr>
          <p:cNvSpPr txBox="1"/>
          <p:nvPr/>
        </p:nvSpPr>
        <p:spPr>
          <a:xfrm>
            <a:off x="2269064" y="159125"/>
            <a:ext cx="76538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Даталогическая</a:t>
            </a: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модель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CF8C937-505B-27E6-36CD-55D9A14C94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6304" y="918650"/>
            <a:ext cx="6799386" cy="542291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276254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B9E733BC-CA5D-49B8-8035-862A7CBBB5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4330" y="6019275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 smtClean="0"/>
              <a:pPr algn="ctr"/>
              <a:t>7</a:t>
            </a:fld>
            <a:endParaRPr lang="ru-RU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CE42E1-13A1-4C29-B480-9007871FF9C5}"/>
              </a:ext>
            </a:extLst>
          </p:cNvPr>
          <p:cNvSpPr txBox="1"/>
          <p:nvPr/>
        </p:nvSpPr>
        <p:spPr>
          <a:xfrm>
            <a:off x="2170895" y="181212"/>
            <a:ext cx="785020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Требования к разрабатываемому ПО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BECED78-9BA2-4066-B71A-DD20C0CC7DCF}"/>
              </a:ext>
            </a:extLst>
          </p:cNvPr>
          <p:cNvSpPr txBox="1"/>
          <p:nvPr/>
        </p:nvSpPr>
        <p:spPr>
          <a:xfrm>
            <a:off x="983560" y="800454"/>
            <a:ext cx="9192005" cy="522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lnSpc>
                <a:spcPct val="150000"/>
              </a:lnSpc>
              <a:spcAft>
                <a:spcPts val="800"/>
              </a:spcAft>
            </a:pPr>
            <a:r>
              <a:rPr lang="ru-RU" sz="20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Надежность и безопасность: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kern="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Высокая степень защиты персональных данных сотрудников</a:t>
            </a:r>
            <a:r>
              <a:rPr lang="en-US" sz="2000" kern="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kern="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	Наличие авторизации и аутентификации пользователя.</a:t>
            </a:r>
            <a:endParaRPr lang="ru-RU" sz="2000" kern="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ru-RU" sz="20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Удобный интерфейс и простота использования: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Интуитивно понятный интерфейс пользователя;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Отсутствие отвлекающих элементов интерфейса пользователя;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Адаптивная вёрстка форм.</a:t>
            </a:r>
          </a:p>
          <a:p>
            <a:pPr lvl="0" algn="just">
              <a:lnSpc>
                <a:spcPct val="150000"/>
              </a:lnSpc>
            </a:pPr>
            <a:r>
              <a:rPr lang="ru-RU" sz="2000" b="1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Функциональность: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Надёжное хранение персональных данных сотрудников;</a:t>
            </a:r>
          </a:p>
          <a:p>
            <a:pPr marL="285750" lvl="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Формирование гражданско-правового договора, акта сдачи-приемки услуг по договору на оказание преподавательских услуг.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548945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D72E6AD-C7A3-4C36-B64A-69E0E6BF2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8</a:t>
            </a:fld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69C832-AE58-4A8B-A099-1BA4B59F60B1}"/>
              </a:ext>
            </a:extLst>
          </p:cNvPr>
          <p:cNvSpPr txBox="1"/>
          <p:nvPr/>
        </p:nvSpPr>
        <p:spPr>
          <a:xfrm>
            <a:off x="2269064" y="159125"/>
            <a:ext cx="76538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вариантов использования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908FC28F-2E6C-D7CB-9D51-6619B9745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6553" y="1060301"/>
            <a:ext cx="6338888" cy="4979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3111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C982D2C1-CF1E-47F2-93F3-DE15050CD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9</a:t>
            </a:fld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1DDEDF8-1062-4528-8B28-1829710F48F0}"/>
              </a:ext>
            </a:extLst>
          </p:cNvPr>
          <p:cNvSpPr txBox="1"/>
          <p:nvPr/>
        </p:nvSpPr>
        <p:spPr>
          <a:xfrm>
            <a:off x="2269064" y="159125"/>
            <a:ext cx="76538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ПО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BB5EE62-C3C8-756B-FC4A-5E154532B9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9105" y="845083"/>
            <a:ext cx="6070599" cy="5853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8492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EE9E450-557A-4AA1-B0F3-63F303553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4329" y="6103505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 smtClean="0"/>
              <a:pPr algn="ctr"/>
              <a:t>10</a:t>
            </a:fld>
            <a:endParaRPr lang="ru-RU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D863ED-2885-4BE2-AF05-E8BF40273F27}"/>
              </a:ext>
            </a:extLst>
          </p:cNvPr>
          <p:cNvSpPr txBox="1"/>
          <p:nvPr/>
        </p:nvSpPr>
        <p:spPr>
          <a:xfrm>
            <a:off x="2391134" y="238299"/>
            <a:ext cx="7196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Страница авторизации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5EC9F06-14B4-17EF-32DE-3E5909E0C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1990" y="1320800"/>
            <a:ext cx="5108020" cy="421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837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EE9E450-557A-4AA1-B0F3-63F303553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4327" y="6463771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 smtClean="0"/>
              <a:pPr algn="ctr"/>
              <a:t>11</a:t>
            </a:fld>
            <a:endParaRPr lang="ru-RU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D863ED-2885-4BE2-AF05-E8BF40273F27}"/>
              </a:ext>
            </a:extLst>
          </p:cNvPr>
          <p:cNvSpPr txBox="1"/>
          <p:nvPr/>
        </p:nvSpPr>
        <p:spPr>
          <a:xfrm>
            <a:off x="2497661" y="29104"/>
            <a:ext cx="719666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Дашборд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(основная страница)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 лица пользователя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0930684-B8BF-7BB2-B5D3-7C6C76E4C1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825" y="1080253"/>
            <a:ext cx="10738340" cy="5383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2530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3E33E4B-B970-C7E4-CE2D-57425780F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12</a:t>
            </a:fld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B8CD520-BB07-A1CC-D3B2-8BB9902A29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9472" y="757808"/>
            <a:ext cx="8253044" cy="578110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1C587C-9082-AD92-04B6-7CB0A2ACE810}"/>
              </a:ext>
            </a:extLst>
          </p:cNvPr>
          <p:cNvSpPr txBox="1"/>
          <p:nvPr/>
        </p:nvSpPr>
        <p:spPr>
          <a:xfrm>
            <a:off x="2497661" y="29104"/>
            <a:ext cx="7196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Создание тикета в поддержку</a:t>
            </a:r>
          </a:p>
        </p:txBody>
      </p:sp>
    </p:spTree>
    <p:extLst>
      <p:ext uri="{BB962C8B-B14F-4D97-AF65-F5344CB8AC3E}">
        <p14:creationId xmlns:p14="http://schemas.microsoft.com/office/powerpoint/2010/main" val="12715957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6FA35D6-AAA4-21F3-54DA-B600E5E70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13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44F81D-B15D-C554-425D-34485D9BD7AE}"/>
              </a:ext>
            </a:extLst>
          </p:cNvPr>
          <p:cNvSpPr txBox="1"/>
          <p:nvPr/>
        </p:nvSpPr>
        <p:spPr>
          <a:xfrm>
            <a:off x="2497661" y="29104"/>
            <a:ext cx="719666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Дашборд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(основная страница)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 лица администратора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624C1A3-47CF-8C12-5E0F-EA384191D9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955" y="1364665"/>
            <a:ext cx="9518078" cy="4733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8741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46FA35D6-AAA4-21F3-54DA-B600E5E70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14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44F81D-B15D-C554-425D-34485D9BD7AE}"/>
              </a:ext>
            </a:extLst>
          </p:cNvPr>
          <p:cNvSpPr txBox="1"/>
          <p:nvPr/>
        </p:nvSpPr>
        <p:spPr>
          <a:xfrm>
            <a:off x="2497661" y="29104"/>
            <a:ext cx="7196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Ответ на заявку (тикет)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AA1077E-3458-D0B1-3F6C-B414A0E1B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393" y="771911"/>
            <a:ext cx="6327202" cy="5426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182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3E33E4B-B970-C7E4-CE2D-57425780F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15</a:t>
            </a:fld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1C587C-9082-AD92-04B6-7CB0A2ACE810}"/>
              </a:ext>
            </a:extLst>
          </p:cNvPr>
          <p:cNvSpPr txBox="1"/>
          <p:nvPr/>
        </p:nvSpPr>
        <p:spPr>
          <a:xfrm>
            <a:off x="2497661" y="29104"/>
            <a:ext cx="7196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Управление устройствами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A45DC5E-F295-C5DD-C754-2F04171F71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274" y="695674"/>
            <a:ext cx="10839452" cy="5466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157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3E33E4B-B970-C7E4-CE2D-57425780F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16</a:t>
            </a:fld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1C587C-9082-AD92-04B6-7CB0A2ACE810}"/>
              </a:ext>
            </a:extLst>
          </p:cNvPr>
          <p:cNvSpPr txBox="1"/>
          <p:nvPr/>
        </p:nvSpPr>
        <p:spPr>
          <a:xfrm>
            <a:off x="2497661" y="29104"/>
            <a:ext cx="7196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Просмотр выбранного устройства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CFD270F-4B44-BD9A-967B-38D92EE8BF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624" y="747229"/>
            <a:ext cx="6324740" cy="5884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9076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6A866A07-B6C5-6485-3746-FB8A9797C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17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6B2398-BF76-BCE0-47AC-04DDE987BCD2}"/>
              </a:ext>
            </a:extLst>
          </p:cNvPr>
          <p:cNvSpPr txBox="1"/>
          <p:nvPr/>
        </p:nvSpPr>
        <p:spPr>
          <a:xfrm>
            <a:off x="1395663" y="29104"/>
            <a:ext cx="9753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История перемещений и заявок устройства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5A3EDE4-A51C-CD3F-F2B0-31EB99AE6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5470" y="613879"/>
            <a:ext cx="9613986" cy="5784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1192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3E33E4B-B970-C7E4-CE2D-57425780F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18</a:t>
            </a:fld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1C587C-9082-AD92-04B6-7CB0A2ACE810}"/>
              </a:ext>
            </a:extLst>
          </p:cNvPr>
          <p:cNvSpPr txBox="1"/>
          <p:nvPr/>
        </p:nvSpPr>
        <p:spPr>
          <a:xfrm>
            <a:off x="2497661" y="29104"/>
            <a:ext cx="7196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Назначение устройства МОЛ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2762124-52E1-1542-A8EC-BC8EE1B29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79" y="794535"/>
            <a:ext cx="5944430" cy="574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25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3E33E4B-B970-C7E4-CE2D-57425780F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19</a:t>
            </a:fld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1C587C-9082-AD92-04B6-7CB0A2ACE810}"/>
              </a:ext>
            </a:extLst>
          </p:cNvPr>
          <p:cNvSpPr txBox="1"/>
          <p:nvPr/>
        </p:nvSpPr>
        <p:spPr>
          <a:xfrm>
            <a:off x="2497661" y="29104"/>
            <a:ext cx="7196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Смена статуса устройства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729A334-B657-ED43-5AE5-4C61D7983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023" y="926097"/>
            <a:ext cx="5371942" cy="543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3290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3E33E4B-B970-C7E4-CE2D-57425780F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20</a:t>
            </a:fld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1C587C-9082-AD92-04B6-7CB0A2ACE810}"/>
              </a:ext>
            </a:extLst>
          </p:cNvPr>
          <p:cNvSpPr txBox="1"/>
          <p:nvPr/>
        </p:nvSpPr>
        <p:spPr>
          <a:xfrm>
            <a:off x="2497661" y="29104"/>
            <a:ext cx="7196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нового устройства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15FFACA-E811-874C-13F4-B3886FDF4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731" y="794084"/>
            <a:ext cx="5608525" cy="5269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17915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BD54DF20-4360-61EC-0A67-A56FAB25B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AC25D6-03C3-43AF-A732-F8A421240C88}" type="slidenum">
              <a:rPr lang="ru-RU" smtClean="0"/>
              <a:pPr/>
              <a:t>21</a:t>
            </a:fld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3ADFB40-A990-748D-80CF-AFFFCF31C7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133" y="745354"/>
            <a:ext cx="11157734" cy="54771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CE24B1-B3AD-D1F2-2456-DC76E595225D}"/>
              </a:ext>
            </a:extLst>
          </p:cNvPr>
          <p:cNvSpPr txBox="1"/>
          <p:nvPr/>
        </p:nvSpPr>
        <p:spPr>
          <a:xfrm>
            <a:off x="1363580" y="26700"/>
            <a:ext cx="96733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Редактирование данных через Админ-панель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Django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28030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9229060-38E9-4F7D-8817-2D85F06C2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4328" y="6492875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 smtClean="0"/>
              <a:pPr algn="ctr"/>
              <a:t>22</a:t>
            </a:fld>
            <a:endParaRPr lang="ru-RU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6E042E-1E39-4283-BFC5-B629AA6922CC}"/>
              </a:ext>
            </a:extLst>
          </p:cNvPr>
          <p:cNvSpPr txBox="1"/>
          <p:nvPr/>
        </p:nvSpPr>
        <p:spPr>
          <a:xfrm>
            <a:off x="2497665" y="167426"/>
            <a:ext cx="7196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Выходная информация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E6601D5-7FBF-0EDE-2D9C-92C387E22F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7667" y="895255"/>
            <a:ext cx="4749368" cy="5553279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4F3CA2B-2645-BC73-8A43-442401709F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584" y="895255"/>
            <a:ext cx="4972744" cy="5430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91615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9229060-38E9-4F7D-8817-2D85F06C2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4328" y="6492875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 smtClean="0"/>
              <a:pPr algn="ctr"/>
              <a:t>23</a:t>
            </a:fld>
            <a:endParaRPr lang="ru-RU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6E042E-1E39-4283-BFC5-B629AA6922CC}"/>
              </a:ext>
            </a:extLst>
          </p:cNvPr>
          <p:cNvSpPr txBox="1"/>
          <p:nvPr/>
        </p:nvSpPr>
        <p:spPr>
          <a:xfrm>
            <a:off x="2497665" y="167426"/>
            <a:ext cx="7196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Выходная информация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C0BB7EA-FDDE-05E7-9797-9A7816C640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912" y="685968"/>
            <a:ext cx="4031738" cy="610360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631BE82-7071-83CA-B0C8-4C5E7AE048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777" y="765919"/>
            <a:ext cx="4597598" cy="594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2761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FE881422-85F6-4444-A656-59C0D636D2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4330" y="6492875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 smtClean="0"/>
              <a:pPr algn="ctr"/>
              <a:t>24</a:t>
            </a:fld>
            <a:endParaRPr lang="ru-RU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4E5FBE-9027-4CAB-A2D5-2471EC031C7D}"/>
              </a:ext>
            </a:extLst>
          </p:cNvPr>
          <p:cNvSpPr txBox="1"/>
          <p:nvPr/>
        </p:nvSpPr>
        <p:spPr>
          <a:xfrm>
            <a:off x="2269064" y="159125"/>
            <a:ext cx="76538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Входная информация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33C711-C901-0F1B-6997-C70DE65EC2CA}"/>
              </a:ext>
            </a:extLst>
          </p:cNvPr>
          <p:cNvSpPr txBox="1"/>
          <p:nvPr/>
        </p:nvSpPr>
        <p:spPr>
          <a:xfrm>
            <a:off x="337350" y="1012790"/>
            <a:ext cx="10833960" cy="43345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0215" algn="just">
              <a:spcAft>
                <a:spcPts val="1000"/>
              </a:spcAft>
            </a:pPr>
            <a:r>
              <a:rPr lang="ru-R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Основу входных данных составляют:</a:t>
            </a:r>
            <a:endParaRPr lang="ru-RU" sz="2400" dirty="0">
              <a:solidFill>
                <a:srgbClr val="00000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</a:pPr>
            <a:r>
              <a:rPr lang="ru-R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характеристики оборудования (инвентарные номера, технические спецификации, балансовая стоимость, гарантийные сроки);</a:t>
            </a:r>
            <a:endParaRPr lang="ru-RU" sz="2400" dirty="0">
              <a:solidFill>
                <a:srgbClr val="00000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</a:pPr>
            <a:r>
              <a:rPr lang="ru-R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сведения о материально ответственных лицах, должностях и структурных подразделениях;</a:t>
            </a:r>
            <a:endParaRPr lang="ru-RU" sz="2400" dirty="0">
              <a:solidFill>
                <a:srgbClr val="00000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</a:pPr>
            <a:r>
              <a:rPr lang="ru-R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параметры перемещений техники, статусы объектов и заявки на техническое обслуживание;</a:t>
            </a:r>
            <a:endParaRPr lang="ru-RU" sz="2400" dirty="0">
              <a:solidFill>
                <a:srgbClr val="00000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spcAft>
                <a:spcPts val="1000"/>
              </a:spcAft>
              <a:buSzPts val="1000"/>
              <a:buFont typeface="Symbol" panose="05050102010706020507" pitchFamily="18" charset="2"/>
              <a:buChar char=""/>
            </a:pPr>
            <a:r>
              <a:rPr lang="ru-RU" sz="2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сетевые и программные конфигурации (IP/MAC-адреса, версии ПО, параметры подключения).</a:t>
            </a:r>
            <a:endParaRPr lang="ru-RU" sz="2400" dirty="0">
              <a:solidFill>
                <a:srgbClr val="00000A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545260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EE9E450-557A-4AA1-B0F3-63F303553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54329" y="6492875"/>
            <a:ext cx="683339" cy="365125"/>
          </a:xfrm>
        </p:spPr>
        <p:txBody>
          <a:bodyPr/>
          <a:lstStyle/>
          <a:p>
            <a:pPr algn="ctr"/>
            <a:fld id="{53AC25D6-03C3-43AF-A732-F8A421240C88}" type="slidenum">
              <a:rPr lang="ru-RU" sz="1400" smtClean="0"/>
              <a:pPr algn="ctr"/>
              <a:t>25</a:t>
            </a:fld>
            <a:endParaRPr lang="ru-RU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D863ED-2885-4BE2-AF05-E8BF40273F27}"/>
              </a:ext>
            </a:extLst>
          </p:cNvPr>
          <p:cNvSpPr txBox="1"/>
          <p:nvPr/>
        </p:nvSpPr>
        <p:spPr>
          <a:xfrm>
            <a:off x="2497666" y="167278"/>
            <a:ext cx="71966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38D1D5-C886-4AFD-AD62-0DAC561387D4}"/>
              </a:ext>
            </a:extLst>
          </p:cNvPr>
          <p:cNvSpPr txBox="1"/>
          <p:nvPr/>
        </p:nvSpPr>
        <p:spPr>
          <a:xfrm>
            <a:off x="1078884" y="1414571"/>
            <a:ext cx="530915" cy="298543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400" dirty="0"/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F005E880-6658-44B0-B392-3131A80F3590}"/>
              </a:ext>
            </a:extLst>
          </p:cNvPr>
          <p:cNvSpPr txBox="1">
            <a:spLocks/>
          </p:cNvSpPr>
          <p:nvPr/>
        </p:nvSpPr>
        <p:spPr>
          <a:xfrm>
            <a:off x="241300" y="879675"/>
            <a:ext cx="11823700" cy="56131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spcBef>
                <a:spcPct val="20000"/>
              </a:spcBef>
              <a:spcAft>
                <a:spcPts val="600"/>
              </a:spcAft>
              <a:buFont typeface="Arial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8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B807BB-75F4-C83A-730B-B28E92F1847A}"/>
              </a:ext>
            </a:extLst>
          </p:cNvPr>
          <p:cNvSpPr txBox="1"/>
          <p:nvPr/>
        </p:nvSpPr>
        <p:spPr>
          <a:xfrm>
            <a:off x="581025" y="879674"/>
            <a:ext cx="11369675" cy="540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47675" algn="just"/>
            <a:r>
              <a:rPr lang="ru-RU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 работы достигнута:</a:t>
            </a: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Разработано кроссплатформенное веб-приложение для автоматизированного учёта обслуживания компьютерной техники в образовательной организации.</a:t>
            </a:r>
          </a:p>
          <a:p>
            <a:pPr indent="447675" algn="just"/>
            <a:r>
              <a:rPr lang="ru-RU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Выполненные задачи:</a:t>
            </a:r>
            <a:endParaRPr lang="ru-RU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47675" algn="just">
              <a:buFont typeface="Arial" panose="020B0604020202020204" pitchFamily="34" charset="0"/>
              <a:buChar char="•"/>
            </a:pP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Проведён анализ предметной области и нормативной документации;</a:t>
            </a:r>
          </a:p>
          <a:p>
            <a:pPr indent="447675" algn="just">
              <a:buFont typeface="Arial" panose="020B0604020202020204" pitchFamily="34" charset="0"/>
              <a:buChar char="•"/>
            </a:pP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Обоснован выбор инструментальных средств (</a:t>
            </a:r>
            <a:r>
              <a:rPr lang="ru-RU" sz="2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Django</a:t>
            </a: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PostgreSQL</a:t>
            </a: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indent="447675" algn="just">
              <a:buFont typeface="Arial" panose="020B0604020202020204" pitchFamily="34" charset="0"/>
              <a:buChar char="•"/>
            </a:pP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Разработана структура базы данных с учётом гибкого хранения характеристик (JSONB);</a:t>
            </a:r>
          </a:p>
          <a:p>
            <a:pPr indent="447675" algn="just">
              <a:buFont typeface="Arial" panose="020B0604020202020204" pitchFamily="34" charset="0"/>
              <a:buChar char="•"/>
            </a:pP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Реализовано веб-приложение с разграничением прав доступа;</a:t>
            </a:r>
          </a:p>
          <a:p>
            <a:pPr indent="447675" algn="just">
              <a:buFont typeface="Arial" panose="020B0604020202020204" pitchFamily="34" charset="0"/>
              <a:buChar char="•"/>
            </a:pP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Оформлены руководства пользователя и программиста.</a:t>
            </a:r>
          </a:p>
          <a:p>
            <a:pPr indent="447675" algn="just"/>
            <a:r>
              <a:rPr lang="ru-RU" sz="2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Практическая значимость:</a:t>
            </a:r>
            <a:endParaRPr lang="ru-RU" sz="2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47675" algn="just">
              <a:buFont typeface="Arial" panose="020B0604020202020204" pitchFamily="34" charset="0"/>
              <a:buChar char="•"/>
            </a:pP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Сокращение времени на ведение реестра оборудования и формирование отчётности;</a:t>
            </a:r>
          </a:p>
          <a:p>
            <a:pPr indent="447675" algn="just">
              <a:buFont typeface="Arial" panose="020B0604020202020204" pitchFamily="34" charset="0"/>
              <a:buChar char="•"/>
            </a:pP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Снижение количества ошибок при заполнении учётных документов;</a:t>
            </a:r>
          </a:p>
          <a:p>
            <a:pPr indent="447675" algn="just">
              <a:buFont typeface="Arial" panose="020B0604020202020204" pitchFamily="34" charset="0"/>
              <a:buChar char="•"/>
            </a:pP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Контроль перемещений техники и гарантийных сроков;</a:t>
            </a:r>
          </a:p>
          <a:p>
            <a:pPr indent="447675" algn="just">
              <a:buFont typeface="Arial" panose="020B0604020202020204" pitchFamily="34" charset="0"/>
              <a:buChar char="•"/>
            </a:pPr>
            <a:r>
              <a:rPr lang="ru-RU" sz="2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Возможность работы в гетерогенной ИТ-среде (Windows, Astra Linux, РЕД ОС).</a:t>
            </a:r>
          </a:p>
        </p:txBody>
      </p:sp>
    </p:spTree>
    <p:extLst>
      <p:ext uri="{BB962C8B-B14F-4D97-AF65-F5344CB8AC3E}">
        <p14:creationId xmlns:p14="http://schemas.microsoft.com/office/powerpoint/2010/main" val="36260938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3428</TotalTime>
  <Words>529</Words>
  <Application>Microsoft Office PowerPoint</Application>
  <PresentationFormat>Широкоэкранный</PresentationFormat>
  <Paragraphs>115</Paragraphs>
  <Slides>25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1" baseType="lpstr">
      <vt:lpstr>Arial</vt:lpstr>
      <vt:lpstr>Calibri</vt:lpstr>
      <vt:lpstr>Calibri Light</vt:lpstr>
      <vt:lpstr>Symbol</vt:lpstr>
      <vt:lpstr>Times New Roman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Алтайский государственный технический университет им И.И. Ползунова</dc:title>
  <dc:creator>Ростислав Гранкин</dc:creator>
  <cp:lastModifiedBy>Sergey Malahov</cp:lastModifiedBy>
  <cp:revision>149</cp:revision>
  <dcterms:created xsi:type="dcterms:W3CDTF">2022-05-12T14:23:35Z</dcterms:created>
  <dcterms:modified xsi:type="dcterms:W3CDTF">2026-06-13T04:22:07Z</dcterms:modified>
</cp:coreProperties>
</file>